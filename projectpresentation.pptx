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3" r:id="rId14"/>
    <p:sldId id="304" r:id="rId15"/>
    <p:sldId id="305" r:id="rId16"/>
    <p:sldId id="306" r:id="rId17"/>
    <p:sldId id="307" r:id="rId18"/>
    <p:sldId id="308" r:id="rId19"/>
    <p:sldId id="310"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3574716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Rakshita Gaonkar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rakshitagaonkar658@gmail.com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8088279270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a:t>
            </a:r>
            <a:r>
              <a:rPr lang="en-US" sz="2800" b="1" dirty="0"/>
              <a:t>Project</a:t>
            </a:r>
            <a:r>
              <a:rPr lang="en-US" sz="2400" b="1" dirty="0"/>
              <a:t> – </a:t>
            </a:r>
            <a:r>
              <a:rPr lang="en-IN" sz="2400" dirty="0"/>
              <a:t>Business and Market Intelligence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15994" y="551965"/>
            <a:ext cx="9581177" cy="523220"/>
          </a:xfrm>
          <a:prstGeom prst="rect">
            <a:avLst/>
          </a:prstGeom>
          <a:noFill/>
        </p:spPr>
        <p:txBody>
          <a:bodyPr wrap="square" rtlCol="0">
            <a:spAutoFit/>
          </a:bodyPr>
          <a:lstStyle/>
          <a:p>
            <a:r>
              <a:rPr lang="en-US" sz="2400" b="1" dirty="0"/>
              <a:t>Project Tile – Intelligent Market Research </a:t>
            </a:r>
            <a:r>
              <a:rPr lang="en-US" sz="2800" b="1" dirty="0"/>
              <a:t>Assistant</a:t>
            </a:r>
            <a:r>
              <a:rPr lang="en-US" sz="2400" b="1" dirty="0"/>
              <a:t> </a:t>
            </a:r>
            <a:endParaRPr lang="en-IN" sz="2400" b="1" dirty="0">
              <a:highlight>
                <a:srgbClr val="FFFF00"/>
              </a:highlight>
            </a:endParaRPr>
          </a:p>
        </p:txBody>
      </p:sp>
      <p:pic>
        <p:nvPicPr>
          <p:cNvPr id="5" name="Picture 4">
            <a:extLst>
              <a:ext uri="{FF2B5EF4-FFF2-40B4-BE49-F238E27FC236}">
                <a16:creationId xmlns:a16="http://schemas.microsoft.com/office/drawing/2014/main" id="{EFF22EA5-39BF-D07D-325E-EE8EF3C36011}"/>
              </a:ext>
            </a:extLst>
          </p:cNvPr>
          <p:cNvPicPr>
            <a:picLocks noChangeAspect="1"/>
          </p:cNvPicPr>
          <p:nvPr/>
        </p:nvPicPr>
        <p:blipFill>
          <a:blip r:embed="rId3"/>
          <a:stretch>
            <a:fillRect/>
          </a:stretch>
        </p:blipFill>
        <p:spPr>
          <a:xfrm>
            <a:off x="4218039" y="3519947"/>
            <a:ext cx="855447" cy="124749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16758"/>
          </a:xfrm>
          <a:prstGeom prst="rect">
            <a:avLst/>
          </a:prstGeom>
          <a:noFill/>
        </p:spPr>
        <p:txBody>
          <a:bodyPr wrap="square" rtlCol="0">
            <a:spAutoFit/>
          </a:bodyPr>
          <a:lstStyle/>
          <a:p>
            <a:pPr fontAlgn="base"/>
            <a:r>
              <a:rPr lang="en-US" sz="1800" dirty="0"/>
              <a:t>The Challenge Organizations and startups often struggle with fragmented and rapidly changing market data— customer feedback, competitor moves, industry reports, and social media trends. This information is scattered across multiple sources, time-consuming to analyze, and often outdated by the time insights are generated. The challenge is not just to collect information but to synthesize, predict, and present actionable insights for smarter decision-making. </a:t>
            </a:r>
          </a:p>
          <a:p>
            <a:pPr fontAlgn="base"/>
            <a:endParaRPr lang="en-US" sz="1800" dirty="0"/>
          </a:p>
          <a:p>
            <a:pPr fontAlgn="base"/>
            <a:r>
              <a:rPr lang="en-US" sz="1800" dirty="0"/>
              <a:t>The Objective Build an agentic AI application that acts as an intelligent market research assistant. The solution should: </a:t>
            </a:r>
          </a:p>
          <a:p>
            <a:pPr marL="342900" indent="-342900" fontAlgn="base">
              <a:buAutoNum type="arabicPeriod"/>
            </a:pPr>
            <a:r>
              <a:rPr lang="en-US" sz="1800" dirty="0"/>
              <a:t>Fuse Disparate Sources: Collect real-time data from news sites, analyst reports, social media, and customer reviews, and synthesize into clear, concise market snapshots. </a:t>
            </a:r>
          </a:p>
          <a:p>
            <a:pPr marL="342900" indent="-342900" fontAlgn="base">
              <a:buAutoNum type="arabicPeriod"/>
            </a:pPr>
            <a:r>
              <a:rPr lang="en-US" sz="1800" dirty="0"/>
              <a:t> Enable Multimodal Analysis: Accept inputs such as text, charts, or voice notes from users and refine them into structured insights, competitor comparisons, or market trends.</a:t>
            </a:r>
          </a:p>
          <a:p>
            <a:pPr marL="342900" indent="-342900" fontAlgn="base">
              <a:buAutoNum type="arabicPeriod"/>
            </a:pPr>
            <a:r>
              <a:rPr lang="en-US" sz="1800" dirty="0"/>
              <a:t> Create a Predictive &amp; Agentic Layer: Analyze patterns to forecast market shifts (e.g., rising demand in a product segment) and generate alerts on competitor activities or customer sentiment changes.</a:t>
            </a:r>
          </a:p>
          <a:p>
            <a:pPr marL="342900" indent="-342900" fontAlgn="base">
              <a:buAutoNum type="arabicPeriod"/>
            </a:pPr>
            <a:r>
              <a:rPr lang="en-US" sz="1800" dirty="0"/>
              <a:t>  Visualize the Market Pulse: Provide a dashboard with trend analysis, competitor mapping, sentiment tracking, and demand forecasts to guide data-driven business strategies. </a:t>
            </a:r>
          </a:p>
          <a:p>
            <a:pPr fontAlgn="base"/>
            <a:endParaRPr lang="en-US"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pPr fontAlgn="base"/>
            <a:r>
              <a:rPr lang="en-US" sz="2800" b="1"/>
              <a:t>Intelligent Market Research Assistant</a:t>
            </a:r>
            <a:endParaRPr lang="en-US" sz="28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755422"/>
          </a:xfrm>
          <a:prstGeom prst="rect">
            <a:avLst/>
          </a:prstGeom>
          <a:noFill/>
        </p:spPr>
        <p:txBody>
          <a:bodyPr wrap="square" rtlCol="0">
            <a:spAutoFit/>
          </a:bodyPr>
          <a:lstStyle/>
          <a:p>
            <a:r>
              <a:rPr lang="en-IN" sz="2000" b="1" dirty="0"/>
              <a:t>Intelligent Market Research Assistant</a:t>
            </a:r>
            <a:r>
              <a:rPr lang="en-IN" sz="2000" dirty="0"/>
              <a:t> is an </a:t>
            </a:r>
            <a:r>
              <a:rPr lang="en-IN" sz="2000" b="1" dirty="0"/>
              <a:t>AI-powered agentic market research system</a:t>
            </a:r>
            <a:r>
              <a:rPr lang="en-IN" sz="2000" dirty="0"/>
              <a:t> that collects and </a:t>
            </a:r>
            <a:r>
              <a:rPr lang="en-IN" sz="2000" dirty="0" err="1"/>
              <a:t>analyzes</a:t>
            </a:r>
            <a:r>
              <a:rPr lang="en-IN" sz="2000" dirty="0"/>
              <a:t> market information from multiple sources and converts it into useful business insights.</a:t>
            </a:r>
          </a:p>
          <a:p>
            <a:r>
              <a:rPr lang="en-IN" sz="2000" dirty="0"/>
              <a:t>The proposed system will:</a:t>
            </a:r>
          </a:p>
          <a:p>
            <a:pPr lvl="0"/>
            <a:r>
              <a:rPr lang="en-IN" sz="2000" dirty="0"/>
              <a:t>📊 </a:t>
            </a:r>
            <a:r>
              <a:rPr lang="en-IN" sz="2000" b="1" dirty="0"/>
              <a:t>Collect market data</a:t>
            </a:r>
            <a:r>
              <a:rPr lang="en-IN" sz="2000" dirty="0"/>
              <a:t> from news, reports, customer reviews, competitor data, and trend datasets. </a:t>
            </a:r>
          </a:p>
          <a:p>
            <a:pPr lvl="0"/>
            <a:r>
              <a:rPr lang="en-IN" sz="2000" dirty="0"/>
              <a:t>🤖 </a:t>
            </a:r>
            <a:r>
              <a:rPr lang="en-IN" sz="2000" b="1" dirty="0"/>
              <a:t>Use IBM Granite + Agentic AI</a:t>
            </a:r>
            <a:r>
              <a:rPr lang="en-IN" sz="2000" dirty="0"/>
              <a:t> to understand user queries and decide which analysis tools are required. </a:t>
            </a:r>
          </a:p>
          <a:p>
            <a:pPr lvl="0"/>
            <a:r>
              <a:rPr lang="en-IN" sz="2000" dirty="0"/>
              <a:t>🔎 </a:t>
            </a:r>
            <a:r>
              <a:rPr lang="en-IN" sz="2000" b="1" dirty="0"/>
              <a:t>Use RAG</a:t>
            </a:r>
            <a:r>
              <a:rPr lang="en-IN" sz="2000" dirty="0"/>
              <a:t> to retrieve relevant information from uploaded industry reports and documents. </a:t>
            </a:r>
          </a:p>
          <a:p>
            <a:pPr lvl="0"/>
            <a:r>
              <a:rPr lang="en-IN" sz="2000" dirty="0"/>
              <a:t>😊 </a:t>
            </a:r>
            <a:r>
              <a:rPr lang="en-IN" sz="2000" b="1" dirty="0"/>
              <a:t>Perform sentiment analysis</a:t>
            </a:r>
            <a:r>
              <a:rPr lang="en-IN" sz="2000" dirty="0"/>
              <a:t> on customer reviews. </a:t>
            </a:r>
          </a:p>
          <a:p>
            <a:pPr lvl="0"/>
            <a:r>
              <a:rPr lang="en-IN" sz="2000" dirty="0"/>
              <a:t>📈 </a:t>
            </a:r>
            <a:r>
              <a:rPr lang="en-IN" sz="2000" b="1" dirty="0" err="1"/>
              <a:t>Analyze</a:t>
            </a:r>
            <a:r>
              <a:rPr lang="en-IN" sz="2000" b="1" dirty="0"/>
              <a:t> market trends and demand</a:t>
            </a:r>
            <a:r>
              <a:rPr lang="en-IN" sz="2000" dirty="0"/>
              <a:t> to identify emerging opportunities. </a:t>
            </a:r>
          </a:p>
          <a:p>
            <a:pPr lvl="0"/>
            <a:r>
              <a:rPr lang="en-IN" sz="2000" dirty="0"/>
              <a:t>🏢 </a:t>
            </a:r>
            <a:r>
              <a:rPr lang="en-IN" sz="2000" b="1" dirty="0"/>
              <a:t>Compare competitors</a:t>
            </a:r>
            <a:r>
              <a:rPr lang="en-IN" sz="2000" dirty="0"/>
              <a:t> based on available market data. </a:t>
            </a:r>
          </a:p>
          <a:p>
            <a:pPr lvl="0"/>
            <a:r>
              <a:rPr lang="en-IN" sz="2000" dirty="0"/>
              <a:t>🚨 </a:t>
            </a:r>
            <a:r>
              <a:rPr lang="en-IN" sz="2000" b="1" dirty="0"/>
              <a:t>Generate alerts</a:t>
            </a:r>
            <a:r>
              <a:rPr lang="en-IN" sz="2000" dirty="0"/>
              <a:t> for important trends, competitor activities, and demand changes. </a:t>
            </a:r>
          </a:p>
          <a:p>
            <a:pPr lvl="0"/>
            <a:r>
              <a:rPr lang="en-IN" sz="2000" dirty="0"/>
              <a:t>📋 </a:t>
            </a:r>
            <a:r>
              <a:rPr lang="en-IN" sz="2000" b="1" dirty="0"/>
              <a:t>Provide an interactive dashboard</a:t>
            </a:r>
            <a:r>
              <a:rPr lang="en-IN" sz="2000" dirty="0"/>
              <a:t> showing market overview, trends, competitors, sentiment, demand forecasts, and alerts. </a:t>
            </a:r>
          </a:p>
          <a:p>
            <a:pPr lvl="0"/>
            <a:r>
              <a:rPr lang="en-IN" sz="2000" dirty="0"/>
              <a:t>📄 </a:t>
            </a:r>
            <a:r>
              <a:rPr lang="en-IN" sz="2000" b="1" dirty="0"/>
              <a:t>Generate market research reports</a:t>
            </a:r>
            <a:r>
              <a:rPr lang="en-IN" sz="2000" dirty="0"/>
              <a:t> in PDF format. </a:t>
            </a:r>
          </a:p>
          <a:p>
            <a:pPr lvl="0"/>
            <a:r>
              <a:rPr lang="en-IN" sz="2000" dirty="0"/>
              <a:t>🎤 Support </a:t>
            </a:r>
            <a:r>
              <a:rPr lang="en-IN" sz="2000" b="1" dirty="0"/>
              <a:t>voice queries</a:t>
            </a:r>
            <a:r>
              <a:rPr lang="en-IN" sz="2000" dirty="0"/>
              <a:t> and </a:t>
            </a:r>
            <a:r>
              <a:rPr lang="en-IN" sz="2000" b="1" dirty="0"/>
              <a:t>image/chart text extraction through OCR</a:t>
            </a:r>
            <a:endParaRPr lang="en-IN" sz="2000"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42452" y="484632"/>
            <a:ext cx="7000567" cy="830997"/>
          </a:xfrm>
          <a:prstGeom prst="rect">
            <a:avLst/>
          </a:prstGeom>
          <a:noFill/>
        </p:spPr>
        <p:txBody>
          <a:bodyPr wrap="square" lIns="91440" tIns="45720" rIns="91440" bIns="45720" rtlCol="0" anchor="t">
            <a:spAutoFit/>
          </a:bodyPr>
          <a:lstStyle/>
          <a:p>
            <a:r>
              <a:rPr lang="en-US" sz="2400" b="1" dirty="0"/>
              <a:t>Technology Used </a:t>
            </a:r>
          </a:p>
          <a:p>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442452" y="865239"/>
            <a:ext cx="10850388" cy="6894195"/>
          </a:xfrm>
          <a:prstGeom prst="rect">
            <a:avLst/>
          </a:prstGeom>
          <a:noFill/>
        </p:spPr>
        <p:txBody>
          <a:bodyPr wrap="square" rtlCol="0">
            <a:spAutoFit/>
          </a:bodyPr>
          <a:lstStyle/>
          <a:p>
            <a:pPr lvl="0"/>
            <a:r>
              <a:rPr lang="en-IN" sz="1800" b="1" dirty="0"/>
              <a:t>IBM Bob Platform</a:t>
            </a:r>
            <a:r>
              <a:rPr lang="en-IN" sz="1800" dirty="0"/>
              <a:t> – Used as the AI-powered development environment for designing, coding, and orchestrating the Intelligent Market Research Assistant. </a:t>
            </a:r>
          </a:p>
          <a:p>
            <a:pPr lvl="0"/>
            <a:r>
              <a:rPr lang="en-IN" sz="1800" b="1" dirty="0"/>
              <a:t>IBM Granite Model</a:t>
            </a:r>
            <a:r>
              <a:rPr lang="en-IN" sz="1800" dirty="0"/>
              <a:t> – Used as the primary LLM for natural language understanding, reasoning, and generating market research insights.</a:t>
            </a:r>
            <a:br>
              <a:rPr lang="en-IN" sz="1800" dirty="0"/>
            </a:br>
            <a:r>
              <a:rPr lang="en-IN" sz="1800" b="1" dirty="0"/>
              <a:t>Model:</a:t>
            </a:r>
            <a:r>
              <a:rPr lang="en-IN" sz="1800" dirty="0"/>
              <a:t> </a:t>
            </a:r>
            <a:r>
              <a:rPr lang="en-IN" sz="1800" dirty="0" err="1"/>
              <a:t>ibm</a:t>
            </a:r>
            <a:r>
              <a:rPr lang="en-IN" sz="1800" dirty="0"/>
              <a:t>/granite-3-8b-instruct </a:t>
            </a:r>
          </a:p>
          <a:p>
            <a:pPr lvl="0"/>
            <a:r>
              <a:rPr lang="en-IN" sz="1800" b="1" dirty="0"/>
              <a:t>Python</a:t>
            </a:r>
            <a:r>
              <a:rPr lang="en-IN" sz="1800" dirty="0"/>
              <a:t> – Used as the main programming language for implementing the AI agent, data processing, analysis, and backend logic. </a:t>
            </a:r>
          </a:p>
          <a:p>
            <a:pPr lvl="0"/>
            <a:r>
              <a:rPr lang="en-IN" sz="1800" b="1" dirty="0" err="1"/>
              <a:t>LangChain</a:t>
            </a:r>
            <a:r>
              <a:rPr lang="en-IN" sz="1800" dirty="0"/>
              <a:t> – Used to build the agent workflow and connect the Granite model with different research and analysis tools. </a:t>
            </a:r>
          </a:p>
          <a:p>
            <a:pPr lvl="0"/>
            <a:r>
              <a:rPr lang="en-IN" sz="1800" b="1" dirty="0"/>
              <a:t>RAG (Retrieval-Augmented Generation)</a:t>
            </a:r>
            <a:r>
              <a:rPr lang="en-IN" sz="1800" dirty="0"/>
              <a:t> – Used to retrieve relevant information from uploaded market reports and documents before generating AI responses. </a:t>
            </a:r>
          </a:p>
          <a:p>
            <a:pPr lvl="0"/>
            <a:r>
              <a:rPr lang="en-IN" sz="1800" b="1" dirty="0" err="1"/>
              <a:t>ChromaDB</a:t>
            </a:r>
            <a:r>
              <a:rPr lang="en-IN" sz="1800" dirty="0"/>
              <a:t> – Used as the local vector database for storing document embeddings and performing similarity-based retrieval for RAG. </a:t>
            </a:r>
          </a:p>
          <a:p>
            <a:pPr lvl="0"/>
            <a:r>
              <a:rPr lang="en-IN" sz="1800" b="1" dirty="0"/>
              <a:t>IBM watsonx.ai</a:t>
            </a:r>
            <a:r>
              <a:rPr lang="en-IN" sz="1800" dirty="0"/>
              <a:t> – Used for connecting to IBM Granite and supporting the AI/LLM layer when IBM credentials are configured. </a:t>
            </a:r>
          </a:p>
          <a:p>
            <a:pPr lvl="0"/>
            <a:r>
              <a:rPr lang="en-IN" sz="1800" b="1" dirty="0" err="1"/>
              <a:t>Streamlit</a:t>
            </a:r>
            <a:r>
              <a:rPr lang="en-IN" sz="1800" dirty="0"/>
              <a:t> – Used to create the interactive web dashboard and AI research assistant interface. </a:t>
            </a:r>
          </a:p>
          <a:p>
            <a:pPr lvl="0"/>
            <a:r>
              <a:rPr lang="en-IN" sz="1800" b="1" dirty="0" err="1"/>
              <a:t>NewsAPI</a:t>
            </a:r>
            <a:r>
              <a:rPr lang="en-IN" sz="1800" dirty="0"/>
              <a:t> – Used to retrieve live news data for market research, with bundled sample data available as a fallback. </a:t>
            </a:r>
          </a:p>
          <a:p>
            <a:pPr lvl="0"/>
            <a:r>
              <a:rPr lang="en-IN" sz="1800" b="1" dirty="0"/>
              <a:t>Pandas / Data Analytics</a:t>
            </a:r>
            <a:r>
              <a:rPr lang="en-IN" sz="1800" dirty="0"/>
              <a:t> – Used for processing market, competitor, sentiment, trend, and demand data. </a:t>
            </a:r>
          </a:p>
          <a:p>
            <a:pPr lvl="0"/>
            <a:r>
              <a:rPr lang="en-IN" sz="1800" b="1" dirty="0" err="1"/>
              <a:t>ReportLab</a:t>
            </a:r>
            <a:r>
              <a:rPr lang="en-IN" sz="1800" dirty="0"/>
              <a:t> – Used to generate downloadable PDF market research reports. </a:t>
            </a:r>
          </a:p>
          <a:p>
            <a:pPr lvl="0"/>
            <a:r>
              <a:rPr lang="en-IN" sz="1800" b="1" dirty="0"/>
              <a:t>Tesseract OCR + Pillow</a:t>
            </a:r>
            <a:r>
              <a:rPr lang="en-IN" sz="1800" dirty="0"/>
              <a:t> – Used for extracting text from uploaded images/charts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4" name="Picture 3">
            <a:extLst>
              <a:ext uri="{FF2B5EF4-FFF2-40B4-BE49-F238E27FC236}">
                <a16:creationId xmlns:a16="http://schemas.microsoft.com/office/drawing/2014/main" id="{ED82DBE5-1B54-3BB1-E2D7-D30B60A968B3}"/>
              </a:ext>
            </a:extLst>
          </p:cNvPr>
          <p:cNvPicPr>
            <a:picLocks noChangeAspect="1"/>
          </p:cNvPicPr>
          <p:nvPr/>
        </p:nvPicPr>
        <p:blipFill>
          <a:blip r:embed="rId3"/>
          <a:stretch>
            <a:fillRect/>
          </a:stretch>
        </p:blipFill>
        <p:spPr>
          <a:xfrm>
            <a:off x="3004183" y="1010992"/>
            <a:ext cx="8683675" cy="4983821"/>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DA99A7-44B9-33A6-23E0-18A71C778D48}"/>
              </a:ext>
            </a:extLst>
          </p:cNvPr>
          <p:cNvPicPr>
            <a:picLocks noChangeAspect="1"/>
          </p:cNvPicPr>
          <p:nvPr/>
        </p:nvPicPr>
        <p:blipFill>
          <a:blip r:embed="rId2"/>
          <a:stretch>
            <a:fillRect/>
          </a:stretch>
        </p:blipFill>
        <p:spPr>
          <a:xfrm>
            <a:off x="471948" y="325463"/>
            <a:ext cx="11450427" cy="5829531"/>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7" name="Picture 6">
            <a:extLst>
              <a:ext uri="{FF2B5EF4-FFF2-40B4-BE49-F238E27FC236}">
                <a16:creationId xmlns:a16="http://schemas.microsoft.com/office/drawing/2014/main" id="{10FD5851-5406-EBDA-9A92-207D1806B9D3}"/>
              </a:ext>
            </a:extLst>
          </p:cNvPr>
          <p:cNvPicPr>
            <a:picLocks noChangeAspect="1"/>
          </p:cNvPicPr>
          <p:nvPr/>
        </p:nvPicPr>
        <p:blipFill>
          <a:blip r:embed="rId3"/>
          <a:stretch>
            <a:fillRect/>
          </a:stretch>
        </p:blipFill>
        <p:spPr>
          <a:xfrm>
            <a:off x="1022553" y="771747"/>
            <a:ext cx="9666339" cy="554949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8" name="TextBox 7">
            <a:extLst>
              <a:ext uri="{FF2B5EF4-FFF2-40B4-BE49-F238E27FC236}">
                <a16:creationId xmlns:a16="http://schemas.microsoft.com/office/drawing/2014/main" id="{FE414F8E-C14A-DBFE-B356-A70DA2E80A91}"/>
              </a:ext>
            </a:extLst>
          </p:cNvPr>
          <p:cNvSpPr txBox="1"/>
          <p:nvPr/>
        </p:nvSpPr>
        <p:spPr>
          <a:xfrm>
            <a:off x="127818" y="1167494"/>
            <a:ext cx="7865807" cy="2585323"/>
          </a:xfrm>
          <a:prstGeom prst="rect">
            <a:avLst/>
          </a:prstGeom>
          <a:noFill/>
        </p:spPr>
        <p:txBody>
          <a:bodyPr wrap="square">
            <a:spAutoFit/>
          </a:bodyPr>
          <a:lstStyle/>
          <a:p>
            <a:r>
              <a:rPr lang="en-IN" sz="1800" dirty="0"/>
              <a:t>In the </a:t>
            </a:r>
            <a:r>
              <a:rPr lang="en-IN" sz="1800" b="1" dirty="0"/>
              <a:t>Intelligent Market Research Assistant</a:t>
            </a:r>
            <a:r>
              <a:rPr lang="en-IN" sz="1800" dirty="0"/>
              <a:t>, Agentic AI acts as the </a:t>
            </a:r>
            <a:r>
              <a:rPr lang="en-IN" sz="1800" b="1" dirty="0"/>
              <a:t>decision-making and orchestration layer</a:t>
            </a:r>
            <a:r>
              <a:rPr lang="en-IN" sz="1800" dirty="0"/>
              <a:t>. Instead of simply answering a question, the agent </a:t>
            </a:r>
            <a:r>
              <a:rPr lang="en-IN" sz="1800" b="1" dirty="0"/>
              <a:t>understands the user's requirement, decides what information and tools are needed, performs the analysis, and combines the results into a useful response</a:t>
            </a:r>
            <a:r>
              <a:rPr lang="en-IN" sz="1800" dirty="0"/>
              <a:t>.</a:t>
            </a:r>
          </a:p>
          <a:p>
            <a:endParaRPr lang="en-IN" sz="1800" dirty="0"/>
          </a:p>
          <a:p>
            <a:r>
              <a:rPr lang="en-IN" sz="1800" b="1" dirty="0"/>
              <a:t>🔄 How Agentic AI works in our project</a:t>
            </a:r>
          </a:p>
          <a:p>
            <a:r>
              <a:rPr lang="en-IN" sz="1800" b="1" dirty="0"/>
              <a:t>User Query → Agent understands → Selects tools → Collects data → </a:t>
            </a:r>
            <a:r>
              <a:rPr lang="en-IN" sz="1800" b="1" dirty="0" err="1"/>
              <a:t>Analyzes</a:t>
            </a:r>
            <a:r>
              <a:rPr lang="en-IN" sz="1800" b="1" dirty="0"/>
              <a:t> → Generates insights → Dashboard/Report</a:t>
            </a:r>
            <a:endParaRPr lang="en-IN" sz="1800" dirty="0"/>
          </a:p>
        </p:txBody>
      </p:sp>
      <p:graphicFrame>
        <p:nvGraphicFramePr>
          <p:cNvPr id="9" name="Table 8">
            <a:extLst>
              <a:ext uri="{FF2B5EF4-FFF2-40B4-BE49-F238E27FC236}">
                <a16:creationId xmlns:a16="http://schemas.microsoft.com/office/drawing/2014/main" id="{874F8384-EEBB-959A-65C2-FD592BE8A5D8}"/>
              </a:ext>
            </a:extLst>
          </p:cNvPr>
          <p:cNvGraphicFramePr>
            <a:graphicFrameLocks noGrp="1"/>
          </p:cNvGraphicFramePr>
          <p:nvPr>
            <p:extLst>
              <p:ext uri="{D42A27DB-BD31-4B8C-83A1-F6EECF244321}">
                <p14:modId xmlns:p14="http://schemas.microsoft.com/office/powerpoint/2010/main" val="1278949878"/>
              </p:ext>
            </p:extLst>
          </p:nvPr>
        </p:nvGraphicFramePr>
        <p:xfrm>
          <a:off x="127818" y="3902971"/>
          <a:ext cx="9409472" cy="2438400"/>
        </p:xfrm>
        <a:graphic>
          <a:graphicData uri="http://schemas.openxmlformats.org/drawingml/2006/table">
            <a:tbl>
              <a:tblPr>
                <a:tableStyleId>{0AAD8F4D-43EB-41E5-8A38-28AB6DFB1B60}</a:tableStyleId>
              </a:tblPr>
              <a:tblGrid>
                <a:gridCol w="4704736">
                  <a:extLst>
                    <a:ext uri="{9D8B030D-6E8A-4147-A177-3AD203B41FA5}">
                      <a16:colId xmlns:a16="http://schemas.microsoft.com/office/drawing/2014/main" val="2268285443"/>
                    </a:ext>
                  </a:extLst>
                </a:gridCol>
                <a:gridCol w="4704736">
                  <a:extLst>
                    <a:ext uri="{9D8B030D-6E8A-4147-A177-3AD203B41FA5}">
                      <a16:colId xmlns:a16="http://schemas.microsoft.com/office/drawing/2014/main" val="3725543704"/>
                    </a:ext>
                  </a:extLst>
                </a:gridCol>
              </a:tblGrid>
              <a:tr h="302396">
                <a:tc>
                  <a:txBody>
                    <a:bodyPr/>
                    <a:lstStyle/>
                    <a:p>
                      <a:pPr>
                        <a:buNone/>
                      </a:pPr>
                      <a:r>
                        <a:rPr lang="en-IN"/>
                        <a:t>Agent/tool</a:t>
                      </a:r>
                    </a:p>
                  </a:txBody>
                  <a:tcPr anchor="ctr"/>
                </a:tc>
                <a:tc>
                  <a:txBody>
                    <a:bodyPr/>
                    <a:lstStyle/>
                    <a:p>
                      <a:pPr>
                        <a:buNone/>
                      </a:pPr>
                      <a:r>
                        <a:rPr lang="en-IN"/>
                        <a:t>Role</a:t>
                      </a:r>
                    </a:p>
                  </a:txBody>
                  <a:tcPr anchor="ctr"/>
                </a:tc>
                <a:extLst>
                  <a:ext uri="{0D108BD9-81ED-4DB2-BD59-A6C34878D82A}">
                    <a16:rowId xmlns:a16="http://schemas.microsoft.com/office/drawing/2014/main" val="790560646"/>
                  </a:ext>
                </a:extLst>
              </a:tr>
              <a:tr h="302396">
                <a:tc>
                  <a:txBody>
                    <a:bodyPr/>
                    <a:lstStyle/>
                    <a:p>
                      <a:pPr>
                        <a:buNone/>
                      </a:pPr>
                      <a:r>
                        <a:rPr lang="en-IN"/>
                        <a:t>Document Retrieval Agent</a:t>
                      </a:r>
                    </a:p>
                  </a:txBody>
                  <a:tcPr anchor="ctr"/>
                </a:tc>
                <a:tc>
                  <a:txBody>
                    <a:bodyPr/>
                    <a:lstStyle/>
                    <a:p>
                      <a:pPr>
                        <a:buNone/>
                      </a:pPr>
                      <a:r>
                        <a:rPr lang="en-IN"/>
                        <a:t>Retrieves relevant information using RAG</a:t>
                      </a:r>
                    </a:p>
                  </a:txBody>
                  <a:tcPr anchor="ctr"/>
                </a:tc>
                <a:extLst>
                  <a:ext uri="{0D108BD9-81ED-4DB2-BD59-A6C34878D82A}">
                    <a16:rowId xmlns:a16="http://schemas.microsoft.com/office/drawing/2014/main" val="3028401031"/>
                  </a:ext>
                </a:extLst>
              </a:tr>
              <a:tr h="302396">
                <a:tc>
                  <a:txBody>
                    <a:bodyPr/>
                    <a:lstStyle/>
                    <a:p>
                      <a:pPr>
                        <a:buNone/>
                      </a:pPr>
                      <a:r>
                        <a:rPr lang="en-IN"/>
                        <a:t>News Research Tool</a:t>
                      </a:r>
                    </a:p>
                  </a:txBody>
                  <a:tcPr anchor="ctr"/>
                </a:tc>
                <a:tc>
                  <a:txBody>
                    <a:bodyPr/>
                    <a:lstStyle/>
                    <a:p>
                      <a:pPr>
                        <a:buNone/>
                      </a:pPr>
                      <a:r>
                        <a:rPr lang="en-IN"/>
                        <a:t>Finds relevant market/news information</a:t>
                      </a:r>
                    </a:p>
                  </a:txBody>
                  <a:tcPr anchor="ctr"/>
                </a:tc>
                <a:extLst>
                  <a:ext uri="{0D108BD9-81ED-4DB2-BD59-A6C34878D82A}">
                    <a16:rowId xmlns:a16="http://schemas.microsoft.com/office/drawing/2014/main" val="1600338068"/>
                  </a:ext>
                </a:extLst>
              </a:tr>
              <a:tr h="302396">
                <a:tc>
                  <a:txBody>
                    <a:bodyPr/>
                    <a:lstStyle/>
                    <a:p>
                      <a:pPr>
                        <a:buNone/>
                      </a:pPr>
                      <a:r>
                        <a:rPr lang="en-IN"/>
                        <a:t>Sentiment Analysis Tool</a:t>
                      </a:r>
                    </a:p>
                  </a:txBody>
                  <a:tcPr anchor="ctr"/>
                </a:tc>
                <a:tc>
                  <a:txBody>
                    <a:bodyPr/>
                    <a:lstStyle/>
                    <a:p>
                      <a:pPr>
                        <a:buNone/>
                      </a:pPr>
                      <a:r>
                        <a:rPr lang="en-IN"/>
                        <a:t>Analyzes customer sentiment</a:t>
                      </a:r>
                    </a:p>
                  </a:txBody>
                  <a:tcPr anchor="ctr"/>
                </a:tc>
                <a:extLst>
                  <a:ext uri="{0D108BD9-81ED-4DB2-BD59-A6C34878D82A}">
                    <a16:rowId xmlns:a16="http://schemas.microsoft.com/office/drawing/2014/main" val="621957056"/>
                  </a:ext>
                </a:extLst>
              </a:tr>
              <a:tr h="302396">
                <a:tc>
                  <a:txBody>
                    <a:bodyPr/>
                    <a:lstStyle/>
                    <a:p>
                      <a:pPr>
                        <a:buNone/>
                      </a:pPr>
                      <a:r>
                        <a:rPr lang="en-IN"/>
                        <a:t>Competitor Analysis Tool</a:t>
                      </a:r>
                    </a:p>
                  </a:txBody>
                  <a:tcPr anchor="ctr"/>
                </a:tc>
                <a:tc>
                  <a:txBody>
                    <a:bodyPr/>
                    <a:lstStyle/>
                    <a:p>
                      <a:pPr>
                        <a:buNone/>
                      </a:pPr>
                      <a:r>
                        <a:rPr lang="en-IN" dirty="0"/>
                        <a:t>Compares competitors</a:t>
                      </a:r>
                    </a:p>
                  </a:txBody>
                  <a:tcPr anchor="ctr"/>
                </a:tc>
                <a:extLst>
                  <a:ext uri="{0D108BD9-81ED-4DB2-BD59-A6C34878D82A}">
                    <a16:rowId xmlns:a16="http://schemas.microsoft.com/office/drawing/2014/main" val="2736262645"/>
                  </a:ext>
                </a:extLst>
              </a:tr>
              <a:tr h="302396">
                <a:tc>
                  <a:txBody>
                    <a:bodyPr/>
                    <a:lstStyle/>
                    <a:p>
                      <a:pPr>
                        <a:buNone/>
                      </a:pPr>
                      <a:r>
                        <a:rPr lang="en-IN"/>
                        <a:t>Trend Analysis Tool</a:t>
                      </a:r>
                    </a:p>
                  </a:txBody>
                  <a:tcPr anchor="ctr"/>
                </a:tc>
                <a:tc>
                  <a:txBody>
                    <a:bodyPr/>
                    <a:lstStyle/>
                    <a:p>
                      <a:pPr>
                        <a:buNone/>
                      </a:pPr>
                      <a:r>
                        <a:rPr lang="en-IN"/>
                        <a:t>Identifies emerging market trends</a:t>
                      </a:r>
                    </a:p>
                  </a:txBody>
                  <a:tcPr anchor="ctr"/>
                </a:tc>
                <a:extLst>
                  <a:ext uri="{0D108BD9-81ED-4DB2-BD59-A6C34878D82A}">
                    <a16:rowId xmlns:a16="http://schemas.microsoft.com/office/drawing/2014/main" val="1753123783"/>
                  </a:ext>
                </a:extLst>
              </a:tr>
              <a:tr h="302396">
                <a:tc>
                  <a:txBody>
                    <a:bodyPr/>
                    <a:lstStyle/>
                    <a:p>
                      <a:pPr>
                        <a:buNone/>
                      </a:pPr>
                      <a:r>
                        <a:rPr lang="en-IN"/>
                        <a:t>Demand Analysis Tool</a:t>
                      </a:r>
                    </a:p>
                  </a:txBody>
                  <a:tcPr anchor="ctr"/>
                </a:tc>
                <a:tc>
                  <a:txBody>
                    <a:bodyPr/>
                    <a:lstStyle/>
                    <a:p>
                      <a:pPr>
                        <a:buNone/>
                      </a:pPr>
                      <a:r>
                        <a:rPr lang="en-IN"/>
                        <a:t>Analyzes demand patterns and forecasts</a:t>
                      </a:r>
                    </a:p>
                  </a:txBody>
                  <a:tcPr anchor="ctr"/>
                </a:tc>
                <a:extLst>
                  <a:ext uri="{0D108BD9-81ED-4DB2-BD59-A6C34878D82A}">
                    <a16:rowId xmlns:a16="http://schemas.microsoft.com/office/drawing/2014/main" val="3451606540"/>
                  </a:ext>
                </a:extLst>
              </a:tr>
              <a:tr h="302396">
                <a:tc>
                  <a:txBody>
                    <a:bodyPr/>
                    <a:lstStyle/>
                    <a:p>
                      <a:pPr>
                        <a:buNone/>
                      </a:pPr>
                      <a:r>
                        <a:rPr lang="en-IN"/>
                        <a:t>Report Generation Tool</a:t>
                      </a:r>
                    </a:p>
                  </a:txBody>
                  <a:tcPr anchor="ctr"/>
                </a:tc>
                <a:tc>
                  <a:txBody>
                    <a:bodyPr/>
                    <a:lstStyle/>
                    <a:p>
                      <a:pPr>
                        <a:buNone/>
                      </a:pPr>
                      <a:r>
                        <a:rPr lang="en-IN" dirty="0"/>
                        <a:t>Creates structured market research reports</a:t>
                      </a:r>
                    </a:p>
                  </a:txBody>
                  <a:tcPr anchor="ctr"/>
                </a:tc>
                <a:extLst>
                  <a:ext uri="{0D108BD9-81ED-4DB2-BD59-A6C34878D82A}">
                    <a16:rowId xmlns:a16="http://schemas.microsoft.com/office/drawing/2014/main" val="3961139920"/>
                  </a:ext>
                </a:extLst>
              </a:tr>
            </a:tbl>
          </a:graphicData>
        </a:graphic>
      </p:graphicFrame>
      <p:pic>
        <p:nvPicPr>
          <p:cNvPr id="13" name="Picture 12">
            <a:extLst>
              <a:ext uri="{FF2B5EF4-FFF2-40B4-BE49-F238E27FC236}">
                <a16:creationId xmlns:a16="http://schemas.microsoft.com/office/drawing/2014/main" id="{3338745C-057B-4C3D-39FB-EB140C0796E2}"/>
              </a:ext>
            </a:extLst>
          </p:cNvPr>
          <p:cNvPicPr>
            <a:picLocks noChangeAspect="1"/>
          </p:cNvPicPr>
          <p:nvPr/>
        </p:nvPicPr>
        <p:blipFill>
          <a:blip r:embed="rId3"/>
          <a:stretch>
            <a:fillRect/>
          </a:stretch>
        </p:blipFill>
        <p:spPr>
          <a:xfrm>
            <a:off x="7835653" y="283464"/>
            <a:ext cx="4118314" cy="2980845"/>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37BA591C-7148-6A1E-C6A0-410AC1711328}"/>
              </a:ext>
            </a:extLst>
          </p:cNvPr>
          <p:cNvPicPr>
            <a:picLocks noChangeAspect="1"/>
          </p:cNvPicPr>
          <p:nvPr/>
        </p:nvPicPr>
        <p:blipFill>
          <a:blip r:embed="rId3"/>
          <a:stretch>
            <a:fillRect/>
          </a:stretch>
        </p:blipFill>
        <p:spPr>
          <a:xfrm>
            <a:off x="0" y="1069463"/>
            <a:ext cx="12192000" cy="471907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EF095985-A133-488D-2200-87DA506C1FE5}"/>
              </a:ext>
            </a:extLst>
          </p:cNvPr>
          <p:cNvPicPr>
            <a:picLocks noChangeAspect="1"/>
          </p:cNvPicPr>
          <p:nvPr/>
        </p:nvPicPr>
        <p:blipFill>
          <a:blip r:embed="rId3"/>
          <a:stretch>
            <a:fillRect/>
          </a:stretch>
        </p:blipFill>
        <p:spPr>
          <a:xfrm>
            <a:off x="0" y="560668"/>
            <a:ext cx="6096000" cy="5958119"/>
          </a:xfrm>
          <a:prstGeom prst="rect">
            <a:avLst/>
          </a:prstGeom>
        </p:spPr>
      </p:pic>
      <p:pic>
        <p:nvPicPr>
          <p:cNvPr id="7" name="Picture 6">
            <a:extLst>
              <a:ext uri="{FF2B5EF4-FFF2-40B4-BE49-F238E27FC236}">
                <a16:creationId xmlns:a16="http://schemas.microsoft.com/office/drawing/2014/main" id="{7131A149-07FE-CAD3-0AFA-853C1DA69E9B}"/>
              </a:ext>
            </a:extLst>
          </p:cNvPr>
          <p:cNvPicPr>
            <a:picLocks noChangeAspect="1"/>
          </p:cNvPicPr>
          <p:nvPr/>
        </p:nvPicPr>
        <p:blipFill>
          <a:blip r:embed="rId4"/>
          <a:stretch>
            <a:fillRect/>
          </a:stretch>
        </p:blipFill>
        <p:spPr>
          <a:xfrm>
            <a:off x="6174658" y="526361"/>
            <a:ext cx="5801032" cy="582494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53C864C2-7CAC-9109-DD65-AE4EAE69801C}"/>
              </a:ext>
            </a:extLst>
          </p:cNvPr>
          <p:cNvPicPr>
            <a:picLocks noChangeAspect="1"/>
          </p:cNvPicPr>
          <p:nvPr/>
        </p:nvPicPr>
        <p:blipFill>
          <a:blip r:embed="rId3"/>
          <a:stretch>
            <a:fillRect/>
          </a:stretch>
        </p:blipFill>
        <p:spPr>
          <a:xfrm>
            <a:off x="137653" y="941548"/>
            <a:ext cx="5958347" cy="5488749"/>
          </a:xfrm>
          <a:prstGeom prst="rect">
            <a:avLst/>
          </a:prstGeom>
        </p:spPr>
      </p:pic>
      <p:pic>
        <p:nvPicPr>
          <p:cNvPr id="7" name="Picture 6">
            <a:extLst>
              <a:ext uri="{FF2B5EF4-FFF2-40B4-BE49-F238E27FC236}">
                <a16:creationId xmlns:a16="http://schemas.microsoft.com/office/drawing/2014/main" id="{56096E0A-EF27-9491-0031-DF5376D9B831}"/>
              </a:ext>
            </a:extLst>
          </p:cNvPr>
          <p:cNvPicPr>
            <a:picLocks noChangeAspect="1"/>
          </p:cNvPicPr>
          <p:nvPr/>
        </p:nvPicPr>
        <p:blipFill>
          <a:blip r:embed="rId4"/>
          <a:stretch>
            <a:fillRect/>
          </a:stretch>
        </p:blipFill>
        <p:spPr>
          <a:xfrm>
            <a:off x="6207967" y="648929"/>
            <a:ext cx="5486399" cy="556505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570756"/>
          </a:xfrm>
          <a:prstGeom prst="rect">
            <a:avLst/>
          </a:prstGeom>
          <a:noFill/>
        </p:spPr>
        <p:txBody>
          <a:bodyPr wrap="square" rtlCol="0">
            <a:spAutoFit/>
          </a:bodyPr>
          <a:lstStyle/>
          <a:p>
            <a:pPr lvl="0"/>
            <a:r>
              <a:rPr lang="en-IN" sz="1800" b="1" dirty="0"/>
              <a:t>1. Agentic Market Research</a:t>
            </a:r>
            <a:r>
              <a:rPr lang="en-IN" sz="1800" dirty="0"/>
              <a:t> </a:t>
            </a:r>
          </a:p>
          <a:p>
            <a:pPr lvl="1"/>
            <a:r>
              <a:rPr lang="en-IN" sz="1800" dirty="0"/>
              <a:t>The system doesn't just generate a fixed answer. </a:t>
            </a:r>
          </a:p>
          <a:p>
            <a:pPr lvl="1"/>
            <a:r>
              <a:rPr lang="en-IN" sz="1800" dirty="0"/>
              <a:t>The AI agent understands the query and decides which research tools are required. </a:t>
            </a:r>
          </a:p>
          <a:p>
            <a:pPr lvl="0"/>
            <a:r>
              <a:rPr lang="en-IN" sz="1800" b="1" dirty="0"/>
              <a:t>2. Multi-source Market Intelligence</a:t>
            </a:r>
            <a:r>
              <a:rPr lang="en-IN" sz="1800" dirty="0"/>
              <a:t> </a:t>
            </a:r>
          </a:p>
          <a:p>
            <a:pPr lvl="1"/>
            <a:r>
              <a:rPr lang="en-IN" sz="1800" dirty="0"/>
              <a:t>Combines information from </a:t>
            </a:r>
            <a:r>
              <a:rPr lang="en-IN" sz="1800" b="1" dirty="0"/>
              <a:t>news, market reports, competitor data, customer reviews, trends, and demand data</a:t>
            </a:r>
            <a:r>
              <a:rPr lang="en-IN" sz="1800" dirty="0"/>
              <a:t> in one platform. </a:t>
            </a:r>
          </a:p>
          <a:p>
            <a:pPr lvl="0"/>
            <a:r>
              <a:rPr lang="en-IN" sz="1800" b="1" dirty="0"/>
              <a:t>3. RAG-based Evidence Retrieval</a:t>
            </a:r>
            <a:r>
              <a:rPr lang="en-IN" sz="1800" dirty="0"/>
              <a:t> </a:t>
            </a:r>
          </a:p>
          <a:p>
            <a:pPr lvl="1"/>
            <a:r>
              <a:rPr lang="en-IN" sz="1800" dirty="0"/>
              <a:t>Uploaded industry reports can be searched using RAG. </a:t>
            </a:r>
          </a:p>
          <a:p>
            <a:pPr lvl="1"/>
            <a:r>
              <a:rPr lang="en-IN" sz="1800" dirty="0"/>
              <a:t>The AI generates responses based on retrieved information rather than relying only on its general knowledge. </a:t>
            </a:r>
          </a:p>
          <a:p>
            <a:pPr lvl="0"/>
            <a:r>
              <a:rPr lang="en-IN" sz="1800" b="1" dirty="0"/>
              <a:t>4. Multimodal Input</a:t>
            </a:r>
            <a:r>
              <a:rPr lang="en-IN" sz="1800" dirty="0"/>
              <a:t> </a:t>
            </a:r>
          </a:p>
          <a:p>
            <a:pPr lvl="1"/>
            <a:r>
              <a:rPr lang="en-IN" sz="1800" dirty="0"/>
              <a:t>Users can provide </a:t>
            </a:r>
            <a:r>
              <a:rPr lang="en-IN" sz="1800" b="1" dirty="0"/>
              <a:t>text, documents, images/charts, and voice queries</a:t>
            </a:r>
            <a:r>
              <a:rPr lang="en-IN" sz="1800" dirty="0"/>
              <a:t>. </a:t>
            </a:r>
          </a:p>
          <a:p>
            <a:pPr lvl="1"/>
            <a:r>
              <a:rPr lang="en-IN" sz="1800" dirty="0"/>
              <a:t>Image information is currently handled through OCR-based text extraction. </a:t>
            </a:r>
          </a:p>
          <a:p>
            <a:pPr lvl="0"/>
            <a:r>
              <a:rPr lang="en-IN" sz="1800" b="1" dirty="0"/>
              <a:t>5. Integrated Competitor + Sentiment + Trend + Demand Analysis</a:t>
            </a:r>
            <a:r>
              <a:rPr lang="en-IN" sz="1800" dirty="0"/>
              <a:t> </a:t>
            </a:r>
          </a:p>
          <a:p>
            <a:pPr lvl="1"/>
            <a:r>
              <a:rPr lang="en-IN" sz="1800" dirty="0"/>
              <a:t>Instead of separate tools, the system combines: </a:t>
            </a:r>
          </a:p>
          <a:p>
            <a:pPr lvl="1"/>
            <a:r>
              <a:rPr lang="en-IN" sz="1800" dirty="0"/>
              <a:t>Competitor comparison </a:t>
            </a:r>
          </a:p>
          <a:p>
            <a:pPr lvl="1"/>
            <a:r>
              <a:rPr lang="en-IN" sz="1800" dirty="0"/>
              <a:t>Customer sentiment </a:t>
            </a:r>
          </a:p>
          <a:p>
            <a:pPr lvl="1"/>
            <a:r>
              <a:rPr lang="en-IN" sz="1800" dirty="0"/>
              <a:t>Market trends </a:t>
            </a:r>
          </a:p>
          <a:p>
            <a:pPr lvl="1"/>
            <a:r>
              <a:rPr lang="en-IN" sz="1800" dirty="0"/>
              <a:t>Demand analysis </a:t>
            </a:r>
          </a:p>
          <a:p>
            <a:pPr lvl="1"/>
            <a:r>
              <a:rPr lang="en-IN" sz="1800" dirty="0"/>
              <a:t>News research</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97382" y="1290499"/>
            <a:ext cx="9214580" cy="4277001"/>
          </a:xfrm>
          <a:prstGeom prst="rect">
            <a:avLst/>
          </a:prstGeom>
          <a:noFill/>
          <a:ln>
            <a:noFill/>
          </a:ln>
        </p:spPr>
        <p:txBody>
          <a:bodyPr spcFirstLastPara="1" wrap="square" lIns="0" tIns="0" rIns="0" bIns="0" anchor="t" anchorCtr="0">
            <a:noAutofit/>
          </a:bodyPr>
          <a:lstStyle/>
          <a:p>
            <a:r>
              <a:rPr lang="en-US" sz="1850" b="0" i="0" u="none" strike="noStrike" cap="none" dirty="0">
                <a:solidFill>
                  <a:srgbClr val="2B3541"/>
                </a:solidFill>
                <a:latin typeface="Times New Roman"/>
                <a:ea typeface="Times New Roman"/>
                <a:cs typeface="Times New Roman"/>
                <a:sym typeface="Times New Roman"/>
              </a:rPr>
              <a:t>·</a:t>
            </a:r>
            <a:r>
              <a:rPr lang="en-IN" sz="2000" dirty="0"/>
              <a:t>GitHub details are:</a:t>
            </a:r>
          </a:p>
          <a:p>
            <a:endParaRPr lang="en-IN" sz="2000" dirty="0"/>
          </a:p>
          <a:p>
            <a:pPr lvl="0"/>
            <a:r>
              <a:rPr lang="en-IN" sz="2000" dirty="0"/>
              <a:t>Username/Owner: rakshitagaonkar658-gif </a:t>
            </a:r>
          </a:p>
          <a:p>
            <a:pPr lvl="0"/>
            <a:endParaRPr lang="en-IN" sz="2000" dirty="0"/>
          </a:p>
          <a:p>
            <a:pPr lvl="0"/>
            <a:r>
              <a:rPr lang="en-IN" sz="2000" dirty="0"/>
              <a:t>Repository name: intelligent-market-research-assistant </a:t>
            </a:r>
          </a:p>
          <a:p>
            <a:pPr lvl="0"/>
            <a:endParaRPr lang="en-IN" sz="2000" dirty="0"/>
          </a:p>
          <a:p>
            <a:pPr lvl="0"/>
            <a:r>
              <a:rPr lang="en-IN" sz="2000" dirty="0"/>
              <a:t>Full URL</a:t>
            </a:r>
            <a:r>
              <a:rPr lang="en-IN" sz="2000" b="1" dirty="0"/>
              <a:t>:</a:t>
            </a:r>
            <a:r>
              <a:rPr lang="en-IN" sz="2000" dirty="0"/>
              <a:t> https://github.com/rakshitagaonkar658-gif/intelligent-market-research-assistant</a:t>
            </a:r>
          </a:p>
          <a:p>
            <a:pPr lvl="0">
              <a:buClr>
                <a:srgbClr val="2B3541"/>
              </a:buClr>
              <a:buSzPts val="1850"/>
            </a:pPr>
            <a:endParaRPr sz="185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r>
              <a:rPr lang="en-IN" sz="1800" b="1" dirty="0"/>
              <a:t>More real-time data sources</a:t>
            </a:r>
            <a:r>
              <a:rPr lang="en-IN" sz="1800" dirty="0"/>
              <a:t> 🌐</a:t>
            </a:r>
            <a:br>
              <a:rPr lang="en-IN" sz="1800" dirty="0"/>
            </a:br>
            <a:r>
              <a:rPr lang="en-IN" sz="1800" dirty="0"/>
              <a:t>Integrate more live sources such as social media platforms, customer-review websites, financial/industry APIs, and analyst reports</a:t>
            </a:r>
          </a:p>
          <a:p>
            <a:pPr lvl="0"/>
            <a:r>
              <a:rPr lang="en-IN" sz="1800" dirty="0"/>
              <a:t>. </a:t>
            </a:r>
          </a:p>
          <a:p>
            <a:pPr lvl="0"/>
            <a:r>
              <a:rPr lang="en-IN" sz="1800" b="1" dirty="0"/>
              <a:t>Advanced predictive analytics</a:t>
            </a:r>
            <a:r>
              <a:rPr lang="en-IN" sz="1800" dirty="0"/>
              <a:t> 📈</a:t>
            </a:r>
            <a:br>
              <a:rPr lang="en-IN" sz="1800" dirty="0"/>
            </a:br>
            <a:r>
              <a:rPr lang="en-IN" sz="1800" dirty="0"/>
              <a:t>Use more advanced ML/time-series models to improve </a:t>
            </a:r>
            <a:r>
              <a:rPr lang="en-IN" sz="1800" b="1" dirty="0"/>
              <a:t>market-demand and trend forecasting</a:t>
            </a:r>
            <a:r>
              <a:rPr lang="en-IN" sz="1800" dirty="0"/>
              <a:t>. </a:t>
            </a:r>
          </a:p>
          <a:p>
            <a:pPr lvl="0"/>
            <a:endParaRPr lang="en-IN" sz="1800" dirty="0"/>
          </a:p>
          <a:p>
            <a:pPr lvl="0"/>
            <a:r>
              <a:rPr lang="en-IN" sz="1800" b="1" dirty="0"/>
              <a:t>True multimodal AI</a:t>
            </a:r>
            <a:r>
              <a:rPr lang="en-IN" sz="1800" dirty="0"/>
              <a:t> 🖼️</a:t>
            </a:r>
            <a:br>
              <a:rPr lang="en-IN" sz="1800" dirty="0"/>
            </a:br>
            <a:r>
              <a:rPr lang="en-IN" sz="1800" dirty="0"/>
              <a:t>Upgrade from OCR-based image text extraction to vision-capable AI that can directly understand </a:t>
            </a:r>
            <a:r>
              <a:rPr lang="en-IN" sz="1800" b="1" dirty="0"/>
              <a:t>charts, graphs, images, and tables</a:t>
            </a:r>
            <a:r>
              <a:rPr lang="en-IN" sz="1800" dirty="0"/>
              <a:t>. </a:t>
            </a:r>
          </a:p>
          <a:p>
            <a:pPr lvl="0"/>
            <a:endParaRPr lang="en-IN" sz="1800" dirty="0"/>
          </a:p>
          <a:p>
            <a:pPr lvl="0"/>
            <a:r>
              <a:rPr lang="en-IN" sz="1800" b="1" dirty="0"/>
              <a:t>Personalized market research</a:t>
            </a:r>
            <a:r>
              <a:rPr lang="en-IN" sz="1800" dirty="0"/>
              <a:t> 🤖</a:t>
            </a:r>
            <a:br>
              <a:rPr lang="en-IN" sz="1800" dirty="0"/>
            </a:br>
            <a:r>
              <a:rPr lang="en-IN" sz="1800" dirty="0"/>
              <a:t>Allow users to specify their industry, company, products, competitors, and target customers so the agent can provide more relevant research. </a:t>
            </a:r>
          </a:p>
          <a:p>
            <a:pPr lvl="0"/>
            <a:endParaRPr lang="en-IN" sz="1800" dirty="0"/>
          </a:p>
          <a:p>
            <a:pPr lvl="0"/>
            <a:r>
              <a:rPr lang="en-IN" sz="1800" b="1" dirty="0"/>
              <a:t>Automated competitor monitoring</a:t>
            </a:r>
            <a:r>
              <a:rPr lang="en-IN" sz="1800" dirty="0"/>
              <a:t> 🏢</a:t>
            </a:r>
            <a:br>
              <a:rPr lang="en-IN" sz="1800" dirty="0"/>
            </a:br>
            <a:r>
              <a:rPr lang="en-IN" sz="1800" dirty="0"/>
              <a:t>Continuously monitor competitor activities such as new products, pricing changes, campaigns, and major announcements and generate alerts.</a:t>
            </a:r>
          </a:p>
          <a:p>
            <a:pPr marL="0" marR="0" lvl="0" indent="0" algn="l" rtl="0">
              <a:lnSpc>
                <a:spcPct val="162162"/>
              </a:lnSpc>
              <a:spcBef>
                <a:spcPts val="0"/>
              </a:spcBef>
              <a:spcAft>
                <a:spcPts val="0"/>
              </a:spcAft>
              <a:buClr>
                <a:srgbClr val="2B3541"/>
              </a:buClr>
              <a:buSzPts val="1850"/>
              <a:buFont typeface="Times New Roman"/>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65222B73-14A0-B29E-8F78-5CFB3EC1FFA2}"/>
              </a:ext>
            </a:extLst>
          </p:cNvPr>
          <p:cNvPicPr>
            <a:picLocks noChangeAspect="1"/>
          </p:cNvPicPr>
          <p:nvPr/>
        </p:nvPicPr>
        <p:blipFill>
          <a:blip r:embed="rId2"/>
          <a:stretch>
            <a:fillRect/>
          </a:stretch>
        </p:blipFill>
        <p:spPr>
          <a:xfrm>
            <a:off x="327949" y="697895"/>
            <a:ext cx="8939035" cy="546221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61317151-AB2C-ECEB-40F5-152E9E275908}"/>
              </a:ext>
            </a:extLst>
          </p:cNvPr>
          <p:cNvPicPr>
            <a:picLocks noChangeAspect="1"/>
          </p:cNvPicPr>
          <p:nvPr/>
        </p:nvPicPr>
        <p:blipFill>
          <a:blip r:embed="rId2"/>
          <a:stretch>
            <a:fillRect/>
          </a:stretch>
        </p:blipFill>
        <p:spPr>
          <a:xfrm>
            <a:off x="991135" y="1200580"/>
            <a:ext cx="10527071" cy="527821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8074A-AB05-7BA6-C882-0B14E93B0470}"/>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DA9C999-818B-5E0C-9C3D-0C96BF622098}"/>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96A3BB0B-880E-75EE-BD38-ED1411577A80}"/>
              </a:ext>
            </a:extLst>
          </p:cNvPr>
          <p:cNvPicPr>
            <a:picLocks noChangeAspect="1"/>
          </p:cNvPicPr>
          <p:nvPr/>
        </p:nvPicPr>
        <p:blipFill>
          <a:blip r:embed="rId2"/>
          <a:stretch>
            <a:fillRect/>
          </a:stretch>
        </p:blipFill>
        <p:spPr>
          <a:xfrm>
            <a:off x="524387" y="294968"/>
            <a:ext cx="11143226" cy="6154993"/>
          </a:xfrm>
          <a:prstGeom prst="rect">
            <a:avLst/>
          </a:prstGeom>
        </p:spPr>
      </p:pic>
    </p:spTree>
    <p:extLst>
      <p:ext uri="{BB962C8B-B14F-4D97-AF65-F5344CB8AC3E}">
        <p14:creationId xmlns:p14="http://schemas.microsoft.com/office/powerpoint/2010/main" val="1619735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1234</Words>
  <Application>Microsoft Office PowerPoint</Application>
  <PresentationFormat>Widescreen</PresentationFormat>
  <Paragraphs>151</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Rakshita gaonkar</cp:lastModifiedBy>
  <cp:revision>3</cp:revision>
  <dcterms:created xsi:type="dcterms:W3CDTF">2025-07-08T05:06:56Z</dcterms:created>
  <dcterms:modified xsi:type="dcterms:W3CDTF">2026-09-23T11:51:57Z</dcterms:modified>
</cp:coreProperties>
</file>